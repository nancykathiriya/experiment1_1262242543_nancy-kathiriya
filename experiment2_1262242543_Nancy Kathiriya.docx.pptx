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443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73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8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827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712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14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440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6257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25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447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729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555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23583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741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4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140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54700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5408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02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988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616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93733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61702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643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13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2312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8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26E8D25-9ED9-4E51-BE73-D21960E54594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1A32748-9868-42C0-9696-0E2193C2FD2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470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0804189-DC42-8D9B-F588-9B6181F99CFF}"/>
              </a:ext>
            </a:extLst>
          </p:cNvPr>
          <p:cNvSpPr/>
          <p:nvPr/>
        </p:nvSpPr>
        <p:spPr>
          <a:xfrm>
            <a:off x="731520" y="2180959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Personas</a:t>
            </a:r>
            <a:endParaRPr lang="en-US" sz="4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D59AF1-AEAB-DAEA-7842-4C785AC692D7}"/>
              </a:ext>
            </a:extLst>
          </p:cNvPr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UI/UX Design — User Personas   |   Nancy Kathiriya   |   PRN: 1262242543   |   Roll No: 13   |   Panel: 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022D3-4A22-9E65-DC99-AE1789151EB9}"/>
              </a:ext>
            </a:extLst>
          </p:cNvPr>
          <p:cNvSpPr txBox="1"/>
          <p:nvPr/>
        </p:nvSpPr>
        <p:spPr>
          <a:xfrm>
            <a:off x="762000" y="3198043"/>
            <a:ext cx="821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Understanding how buyers, renters, and investors discover and secure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6E907-D523-7183-3146-DBDBD0E6EFD7}"/>
              </a:ext>
            </a:extLst>
          </p:cNvPr>
          <p:cNvSpPr txBox="1"/>
          <p:nvPr/>
        </p:nvSpPr>
        <p:spPr>
          <a:xfrm>
            <a:off x="731520" y="3657601"/>
            <a:ext cx="5189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Domain: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 Digital Real Estate Platform — </a:t>
            </a:r>
            <a:r>
              <a:rPr lang="en-IN" sz="16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Housing.com</a:t>
            </a:r>
          </a:p>
        </p:txBody>
      </p:sp>
    </p:spTree>
    <p:extLst>
      <p:ext uri="{BB962C8B-B14F-4D97-AF65-F5344CB8AC3E}">
        <p14:creationId xmlns:p14="http://schemas.microsoft.com/office/powerpoint/2010/main" val="1479438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0FCA2-4C1C-E293-E5D3-BD42CE7E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52" y="754925"/>
            <a:ext cx="10152667" cy="579670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05AFED3-E634-1131-9384-D545054DBFF2}"/>
              </a:ext>
            </a:extLst>
          </p:cNvPr>
          <p:cNvSpPr/>
          <p:nvPr/>
        </p:nvSpPr>
        <p:spPr>
          <a:xfrm>
            <a:off x="333081" y="754925"/>
            <a:ext cx="137317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01.</a:t>
            </a:r>
          </a:p>
        </p:txBody>
      </p:sp>
    </p:spTree>
    <p:extLst>
      <p:ext uri="{BB962C8B-B14F-4D97-AF65-F5344CB8AC3E}">
        <p14:creationId xmlns:p14="http://schemas.microsoft.com/office/powerpoint/2010/main" val="289382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805D26-29AA-2D8C-AA76-EF459BB551B7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02.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E1FA3-7362-346F-DB14-CDCA5DE7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67462"/>
            <a:ext cx="10073889" cy="573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49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0EF7-EDA5-5E6B-6D9E-51ED0BAE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90D5FC-C0B9-16E4-696C-2AD4BC2BB52A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03.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6C4CD-1E7F-7493-D70A-CA18A71F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67463"/>
            <a:ext cx="10073889" cy="570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0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573E8D-6724-AF72-5C9D-3E9710582C2D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04.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CD7DD-480C-DF59-25A7-3D045D87C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67463"/>
            <a:ext cx="10073889" cy="568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53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789AB3-A255-2389-D70C-8EA70D050CAD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EA9BF-C936-3895-C68A-D84CCFD7B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55679"/>
            <a:ext cx="10073889" cy="573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81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5E304A-2C17-6B99-03BA-8C1E36AE5BD2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27337-371A-ADE3-0A24-9F808F55F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69" y="767462"/>
            <a:ext cx="10073889" cy="568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0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225F876-6D44-3986-6814-1577EF0D010B}"/>
              </a:ext>
            </a:extLst>
          </p:cNvPr>
          <p:cNvSpPr/>
          <p:nvPr/>
        </p:nvSpPr>
        <p:spPr>
          <a:xfrm>
            <a:off x="599545" y="2256373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 Maps</a:t>
            </a:r>
            <a:endParaRPr lang="en-US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CFC9F-FDB2-76CB-040B-4C65046AC0D6}"/>
              </a:ext>
            </a:extLst>
          </p:cNvPr>
          <p:cNvSpPr txBox="1"/>
          <p:nvPr/>
        </p:nvSpPr>
        <p:spPr>
          <a:xfrm>
            <a:off x="599545" y="3244334"/>
            <a:ext cx="489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Mapping the Path from First Click to Final Move.</a:t>
            </a:r>
          </a:p>
        </p:txBody>
      </p:sp>
    </p:spTree>
    <p:extLst>
      <p:ext uri="{BB962C8B-B14F-4D97-AF65-F5344CB8AC3E}">
        <p14:creationId xmlns:p14="http://schemas.microsoft.com/office/powerpoint/2010/main" val="861331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A34825C-9C78-A777-287A-92CC8BCF0FA3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01.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3DDAE-73EB-DB8F-3668-B9D1364E3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57011"/>
            <a:ext cx="10073889" cy="573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7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D8BEA6-6E13-EBC3-B624-6BCC5A46C3BC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02.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0F5F83-AB83-73C2-5F58-5ACEB9DC9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66951"/>
            <a:ext cx="10073889" cy="568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95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A21072-77B2-E1D5-EBFD-4BC32DD739E8}"/>
              </a:ext>
            </a:extLst>
          </p:cNvPr>
          <p:cNvSpPr/>
          <p:nvPr/>
        </p:nvSpPr>
        <p:spPr>
          <a:xfrm>
            <a:off x="389641" y="776889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03.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64EF5C-7AAC-FD5A-03B7-7B6231CBC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29" y="757011"/>
            <a:ext cx="10082530" cy="573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7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CED37-29FE-36CD-3355-AE310828D7E6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04.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F5CF5-1748-4CD5-995A-4F3F6759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470" y="765926"/>
            <a:ext cx="10073889" cy="574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74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ED6591-9E03-162B-1DF8-8A018B640C84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05.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05D42-1266-6688-CCAD-68393CD90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470" y="765926"/>
            <a:ext cx="10073889" cy="565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05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55D381-DF7E-72B5-E134-A2A150693A9F}"/>
              </a:ext>
            </a:extLst>
          </p:cNvPr>
          <p:cNvSpPr/>
          <p:nvPr/>
        </p:nvSpPr>
        <p:spPr>
          <a:xfrm>
            <a:off x="389641" y="795743"/>
            <a:ext cx="13388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06.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6E596-FAC2-A8AA-81E7-BA3B81E2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70" y="755987"/>
            <a:ext cx="10088489" cy="570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7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8D99DA-DFC1-BF8B-7BD2-DF5A41978FE7}"/>
              </a:ext>
            </a:extLst>
          </p:cNvPr>
          <p:cNvSpPr/>
          <p:nvPr/>
        </p:nvSpPr>
        <p:spPr>
          <a:xfrm>
            <a:off x="240501" y="704902"/>
            <a:ext cx="103158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u="sng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RESEARCH GAP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ADE2C-6DB1-44DD-3B90-30FFB4439BD2}"/>
              </a:ext>
            </a:extLst>
          </p:cNvPr>
          <p:cNvSpPr txBox="1"/>
          <p:nvPr/>
        </p:nvSpPr>
        <p:spPr>
          <a:xfrm>
            <a:off x="443061" y="1962851"/>
            <a:ext cx="10421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Light" panose="020B0502040204020203" pitchFamily="34" charset="0"/>
              </a:rPr>
              <a:t>The analysis of existing real-estate platforms shows that, although websites provide a large amount of property information, users may still face difficulties in </a:t>
            </a:r>
            <a:r>
              <a:rPr lang="en-IN" b="1" dirty="0">
                <a:latin typeface="Bahnschrift Light" panose="020B0502040204020203" pitchFamily="34" charset="0"/>
              </a:rPr>
              <a:t>finding relevant properties, comparing multiple options, understanding important details, and making confident decisions</a:t>
            </a:r>
            <a:r>
              <a:rPr lang="en-IN" dirty="0">
                <a:latin typeface="Bahnschrift Light" panose="020B0502040204020203" pitchFamily="34" charset="0"/>
              </a:rPr>
              <a:t>. Information is often distributed across different sections, while filters, navigation, property details, and comparison features may not always align with the way users naturally search for a property.</a:t>
            </a:r>
          </a:p>
          <a:p>
            <a:endParaRPr lang="en-IN" dirty="0">
              <a:latin typeface="Bahnschrift Light" panose="020B0502040204020203" pitchFamily="34" charset="0"/>
            </a:endParaRPr>
          </a:p>
          <a:p>
            <a:endParaRPr lang="en-IN" dirty="0">
              <a:latin typeface="Bahnschrift Light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4" name="Picture 3" descr="Symbol of House with Barcode Design and Real Estate Label. Mortgage Market  and Service or Wooden Construction Theme Stock Vector - Illustration of  business, codebar: 106337156">
            <a:extLst>
              <a:ext uri="{FF2B5EF4-FFF2-40B4-BE49-F238E27FC236}">
                <a16:creationId xmlns:a16="http://schemas.microsoft.com/office/drawing/2014/main" id="{57BB44AD-CE54-BBF1-D842-C0858A25F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520" y="3609012"/>
            <a:ext cx="2967755" cy="2967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D772D4-64DC-2660-1A4D-F9222C7E0875}"/>
              </a:ext>
            </a:extLst>
          </p:cNvPr>
          <p:cNvSpPr txBox="1"/>
          <p:nvPr/>
        </p:nvSpPr>
        <p:spPr>
          <a:xfrm>
            <a:off x="443061" y="3714445"/>
            <a:ext cx="72555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 Light" panose="020B0502040204020203" pitchFamily="34" charset="0"/>
              </a:rPr>
              <a:t>There is therefore a gap in creating a </a:t>
            </a:r>
            <a:r>
              <a:rPr lang="en-IN" b="1" dirty="0">
                <a:latin typeface="Bahnschrift Light" panose="020B0502040204020203" pitchFamily="34" charset="0"/>
              </a:rPr>
              <a:t>more user-</a:t>
            </a:r>
            <a:r>
              <a:rPr lang="en-IN" b="1" dirty="0" err="1">
                <a:latin typeface="Bahnschrift Light" panose="020B0502040204020203" pitchFamily="34" charset="0"/>
              </a:rPr>
              <a:t>centered</a:t>
            </a:r>
            <a:r>
              <a:rPr lang="en-IN" b="1" dirty="0">
                <a:latin typeface="Bahnschrift Light" panose="020B0502040204020203" pitchFamily="34" charset="0"/>
              </a:rPr>
              <a:t>, simple, and consistent real-estate interface</a:t>
            </a:r>
            <a:r>
              <a:rPr lang="en-IN" dirty="0">
                <a:latin typeface="Bahnschrift Light" panose="020B0502040204020203" pitchFamily="34" charset="0"/>
              </a:rPr>
              <a:t> that reduces information overload and supports users throughout the property-search process. A better design could focus on </a:t>
            </a:r>
            <a:r>
              <a:rPr lang="en-IN" b="1" dirty="0">
                <a:latin typeface="Bahnschrift Light" panose="020B0502040204020203" pitchFamily="34" charset="0"/>
              </a:rPr>
              <a:t>simplified navigation, meaningful filters, clear property information, easy comparison, transparent pricing, and personalized recommendations</a:t>
            </a:r>
            <a:r>
              <a:rPr lang="en-IN" dirty="0">
                <a:latin typeface="Bahnschrift Light" panose="020B0502040204020203" pitchFamily="34" charset="0"/>
              </a:rPr>
              <a:t>.</a:t>
            </a:r>
          </a:p>
          <a:p>
            <a:r>
              <a:rPr lang="en-IN" dirty="0">
                <a:latin typeface="Bahnschrift Light" panose="020B0502040204020203" pitchFamily="34" charset="0"/>
              </a:rPr>
              <a:t>The research will explore how UI/UX improvements can make the real-estate search experience </a:t>
            </a:r>
            <a:r>
              <a:rPr lang="en-IN" b="1" dirty="0">
                <a:latin typeface="Bahnschrift Light" panose="020B0502040204020203" pitchFamily="34" charset="0"/>
              </a:rPr>
              <a:t>more efficient, understandable, accessible, and decision-oriented for users</a:t>
            </a:r>
            <a:r>
              <a:rPr lang="en-IN" dirty="0">
                <a:latin typeface="Bahnschrift Light" panose="020B0502040204020203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046305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76</TotalTime>
  <Words>244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Arial Black</vt:lpstr>
      <vt:lpstr>Arial Nova Light</vt:lpstr>
      <vt:lpstr>Bahnschrift Light</vt:lpstr>
      <vt:lpstr>Georgia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Kathiriya</dc:creator>
  <cp:lastModifiedBy>Nancy Kathiriya</cp:lastModifiedBy>
  <cp:revision>2</cp:revision>
  <dcterms:created xsi:type="dcterms:W3CDTF">2026-08-08T13:49:38Z</dcterms:created>
  <dcterms:modified xsi:type="dcterms:W3CDTF">2026-08-08T15:12:20Z</dcterms:modified>
</cp:coreProperties>
</file>